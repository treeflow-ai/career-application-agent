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1675"/>
  <p:notesSz cx="6858000" cy="12191675"/>
  <p:embeddedFontLst>
    <p:embeddedFont>
      <p:font typeface="Play"/>
      <p:regular r:id="rId12"/>
      <p:bold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jvJSQQnzd45ZmLJf0nfmqiDH61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Play-bold.fntdata"/><Relationship Id="rId12" Type="http://schemas.openxmlformats.org/officeDocument/2006/relationships/font" Target="fonts/Play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" name="Google Shape;3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" name="Google Shape;4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5" name="Google Shape;5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" name="Google Shape;7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594360" y="713232"/>
            <a:ext cx="7589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00"/>
              <a:buFont typeface="Play"/>
              <a:buNone/>
            </a:pPr>
            <a:r>
              <a:rPr b="1" i="0" lang="en-US" sz="3400" u="none" cap="none" strike="noStrike">
                <a:solidFill>
                  <a:srgbClr val="18181B"/>
                </a:solidFill>
                <a:latin typeface="Play"/>
                <a:ea typeface="Play"/>
                <a:cs typeface="Play"/>
                <a:sym typeface="Play"/>
              </a:rPr>
              <a:t>Career Application Agent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21792" y="1307592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7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A stateful, evidence-grounded workflow for finding roles, verifying openings, and generating reviewable application packages.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22960" y="2834640"/>
            <a:ext cx="1600200" cy="457200"/>
          </a:xfrm>
          <a:prstGeom prst="rect">
            <a:avLst/>
          </a:prstGeom>
          <a:solidFill>
            <a:srgbClr val="2563EB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Discover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22960" y="3364992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current roles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2606040" y="3063240"/>
            <a:ext cx="548640" cy="0"/>
          </a:xfrm>
          <a:prstGeom prst="straightConnector1">
            <a:avLst/>
          </a:prstGeom>
          <a:noFill/>
          <a:ln cap="flat" cmpd="sng" w="25400">
            <a:solidFill>
              <a:srgbClr val="D0D5D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" name="Google Shape;21;p1"/>
          <p:cNvSpPr/>
          <p:nvPr/>
        </p:nvSpPr>
        <p:spPr>
          <a:xfrm>
            <a:off x="3429000" y="2834640"/>
            <a:ext cx="1600200" cy="457200"/>
          </a:xfrm>
          <a:prstGeom prst="rect">
            <a:avLst/>
          </a:prstGeom>
          <a:solidFill>
            <a:srgbClr val="15803D"/>
          </a:solidFill>
          <a:ln cap="flat" cmpd="sng" w="9525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Verify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429000" y="3364992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official posting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" name="Google Shape;23;p1"/>
          <p:cNvCxnSpPr/>
          <p:nvPr/>
        </p:nvCxnSpPr>
        <p:spPr>
          <a:xfrm>
            <a:off x="5212080" y="3063240"/>
            <a:ext cx="548640" cy="0"/>
          </a:xfrm>
          <a:prstGeom prst="straightConnector1">
            <a:avLst/>
          </a:prstGeom>
          <a:noFill/>
          <a:ln cap="flat" cmpd="sng" w="25400">
            <a:solidFill>
              <a:srgbClr val="D0D5D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4" name="Google Shape;24;p1"/>
          <p:cNvSpPr/>
          <p:nvPr/>
        </p:nvSpPr>
        <p:spPr>
          <a:xfrm>
            <a:off x="6035040" y="2834640"/>
            <a:ext cx="1600200" cy="457200"/>
          </a:xfrm>
          <a:prstGeom prst="rect">
            <a:avLst/>
          </a:prstGeom>
          <a:solidFill>
            <a:srgbClr val="7C3AED"/>
          </a:solidFill>
          <a:ln cap="flat" cmpd="sng" w="9525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Ground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035040" y="3364992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candidate evidence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" name="Google Shape;26;p1"/>
          <p:cNvCxnSpPr/>
          <p:nvPr/>
        </p:nvCxnSpPr>
        <p:spPr>
          <a:xfrm>
            <a:off x="7818120" y="3063240"/>
            <a:ext cx="548640" cy="0"/>
          </a:xfrm>
          <a:prstGeom prst="straightConnector1">
            <a:avLst/>
          </a:prstGeom>
          <a:noFill/>
          <a:ln cap="flat" cmpd="sng" w="25400">
            <a:solidFill>
              <a:srgbClr val="D0D5D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" name="Google Shape;27;p1"/>
          <p:cNvSpPr/>
          <p:nvPr/>
        </p:nvSpPr>
        <p:spPr>
          <a:xfrm>
            <a:off x="8641080" y="2834640"/>
            <a:ext cx="1600200" cy="457200"/>
          </a:xfrm>
          <a:prstGeom prst="rect">
            <a:avLst/>
          </a:prstGeom>
          <a:solidFill>
            <a:srgbClr val="B45309"/>
          </a:solidFill>
          <a:ln cap="flat" cmpd="sng" w="9525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Validate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8641080" y="3364992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release quality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822960" y="4343400"/>
            <a:ext cx="9692640" cy="640080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75" lIns="1775" spcFirstLastPara="1" rIns="1775" wrap="square" tIns="1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Project output: resume · cover letter · notes · provenance · application history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502920" y="644652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099"/>
              </a:buClr>
              <a:buSzPts val="850"/>
              <a:buFont typeface="Arial"/>
              <a:buNone/>
            </a:pPr>
            <a:r>
              <a:rPr b="0" i="0" lang="en-US" sz="900" u="none" cap="none" strike="noStrike">
                <a:solidFill>
                  <a:srgbClr val="6E7680"/>
                </a:solidFill>
                <a:latin typeface="Arial"/>
                <a:ea typeface="Arial"/>
                <a:cs typeface="Arial"/>
                <a:sym typeface="Arial"/>
              </a:rPr>
              <a:t>treeflow-ai / career-application-agent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"/>
          <p:cNvSpPr/>
          <p:nvPr/>
        </p:nvSpPr>
        <p:spPr>
          <a:xfrm>
            <a:off x="502920" y="320040"/>
            <a:ext cx="8138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700"/>
              <a:buFont typeface="Play"/>
              <a:buNone/>
            </a:pPr>
            <a:r>
              <a:rPr b="1" i="0" lang="en-US" sz="3000" u="none" cap="none" strike="noStrike">
                <a:solidFill>
                  <a:srgbClr val="18181B"/>
                </a:solidFill>
                <a:latin typeface="Play"/>
                <a:ea typeface="Play"/>
                <a:cs typeface="Play"/>
                <a:sym typeface="Play"/>
              </a:rPr>
              <a:t>AI drafting needs controls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21208" y="84124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2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The agent separates role status, candidate evidence, and quality gates.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731520" y="1508760"/>
            <a:ext cx="2880360" cy="1325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7000" lIns="177800" spcFirstLastPara="1" rIns="177800" wrap="square" tIns="127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20"/>
              <a:buFont typeface="Arial"/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Stale openings</a:t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Search results and copied job descriptions are not proof that a role is still open.</a:t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617720" y="1508760"/>
            <a:ext cx="2880360" cy="1325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7000" lIns="177800" spcFirstLastPara="1" rIns="177800" wrap="square" tIns="127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20"/>
              <a:buFont typeface="Arial"/>
              <a:buNone/>
            </a:pPr>
            <a:r>
              <a:rPr b="1" i="0" lang="en-US" sz="1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Unsupported claims</a:t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A job description lists desired skills, not facts about the candidate.</a:t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8503920" y="1508760"/>
            <a:ext cx="2880360" cy="1325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7000" lIns="177800" spcFirstLastPara="1" rIns="177800" wrap="square" tIns="127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20"/>
              <a:buFont typeface="Arial"/>
              <a:buNone/>
            </a:pPr>
            <a:r>
              <a:rPr b="1" i="0" lang="en-US" sz="1800" u="none" cap="none" strike="noStrike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Unreviewed output</a:t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A fluent resume can still contain broken links, chronology drift, or inflated scope.</a:t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3931920" y="3794760"/>
            <a:ext cx="4297680" cy="123444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7000" lIns="177800" spcFirstLastPara="1" rIns="177800" wrap="square" tIns="127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803D"/>
              </a:buClr>
              <a:buSzPts val="1200"/>
              <a:buFont typeface="Arial"/>
              <a:buNone/>
            </a:pPr>
            <a:r>
              <a:rPr b="1" i="0" lang="en-US" sz="1800" u="none" cap="none" strike="noStrike">
                <a:solidFill>
                  <a:srgbClr val="166534"/>
                </a:solidFill>
                <a:latin typeface="Arial"/>
                <a:ea typeface="Arial"/>
                <a:cs typeface="Arial"/>
                <a:sym typeface="Arial"/>
              </a:rPr>
              <a:t>Design principle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Use AI for interpretation and drafting; keep facts, opening status, and release quality behind evidence and deterministic checks.</a:t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502920" y="644652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099"/>
              </a:buClr>
              <a:buSzPts val="850"/>
              <a:buFont typeface="Arial"/>
              <a:buNone/>
            </a:pPr>
            <a:r>
              <a:rPr b="0" i="0" lang="en-US" sz="900" u="none" cap="none" strike="noStrike">
                <a:solidFill>
                  <a:srgbClr val="6E7680"/>
                </a:solidFill>
                <a:latin typeface="Arial"/>
                <a:ea typeface="Arial"/>
                <a:cs typeface="Arial"/>
                <a:sym typeface="Arial"/>
              </a:rPr>
              <a:t>treeflow-ai / career-application-agent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502920" y="320040"/>
            <a:ext cx="8138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700"/>
              <a:buFont typeface="Play"/>
              <a:buNone/>
            </a:pPr>
            <a:r>
              <a:rPr b="1" i="0" lang="en-US" sz="3000" u="none" cap="none" strike="noStrike">
                <a:solidFill>
                  <a:srgbClr val="18181B"/>
                </a:solidFill>
                <a:latin typeface="Play"/>
                <a:ea typeface="Play"/>
                <a:cs typeface="Play"/>
                <a:sym typeface="Play"/>
              </a:rPr>
              <a:t>End-to-end workflow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521208" y="84124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2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Two entry paths feed the same evidence-grounded application pipeline.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caa_update/career-application-agent/docs/architecture.png" id="50" name="Google Shape;5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143000"/>
            <a:ext cx="10835640" cy="516636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3"/>
          <p:cNvSpPr/>
          <p:nvPr/>
        </p:nvSpPr>
        <p:spPr>
          <a:xfrm>
            <a:off x="502920" y="644652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099"/>
              </a:buClr>
              <a:buSzPts val="850"/>
              <a:buFont typeface="Arial"/>
              <a:buNone/>
            </a:pPr>
            <a:r>
              <a:rPr b="0" i="0" lang="en-US" sz="900" u="none" cap="none" strike="noStrike">
                <a:solidFill>
                  <a:srgbClr val="6E7680"/>
                </a:solidFill>
                <a:latin typeface="Arial"/>
                <a:ea typeface="Arial"/>
                <a:cs typeface="Arial"/>
                <a:sym typeface="Arial"/>
              </a:rPr>
              <a:t>treeflow-ai / career-application-agent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"/>
          <p:cNvSpPr/>
          <p:nvPr/>
        </p:nvSpPr>
        <p:spPr>
          <a:xfrm>
            <a:off x="502920" y="320040"/>
            <a:ext cx="8138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700"/>
              <a:buFont typeface="Play"/>
              <a:buNone/>
            </a:pPr>
            <a:r>
              <a:rPr b="1" i="0" lang="en-US" sz="3000" u="none" cap="none" strike="noStrike">
                <a:solidFill>
                  <a:srgbClr val="18181B"/>
                </a:solidFill>
                <a:latin typeface="Play"/>
                <a:ea typeface="Play"/>
                <a:cs typeface="Play"/>
                <a:sym typeface="Play"/>
              </a:rPr>
              <a:t>Evidence grounding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521208" y="84124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2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The job description is role evidence, not candidate evidence.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94360" y="1399032"/>
            <a:ext cx="2331720" cy="1078992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46300" spcFirstLastPara="1" rIns="146300" wrap="square" tIns="1097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20"/>
              <a:buFont typeface="Arial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DIRECT</a:t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strong verified evidence</a:t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3502152" y="1399032"/>
            <a:ext cx="2331720" cy="1078992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46300" spcFirstLastPara="1" rIns="146300" wrap="square" tIns="1097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20"/>
              <a:buFont typeface="Arial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TRANSFERABLE</a:t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adjacent evidence, described carefully</a:t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6409944" y="1399032"/>
            <a:ext cx="2331720" cy="1078992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46300" spcFirstLastPara="1" rIns="146300" wrap="square" tIns="1097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20"/>
              <a:buFont typeface="Arial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not established; ask or record a gap</a:t>
            </a: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9317736" y="1399032"/>
            <a:ext cx="2331720" cy="1078992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46300" spcFirstLastPara="1" rIns="146300" wrap="square" tIns="1097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20"/>
              <a:buFont typeface="Arial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UNMET</a:t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1A1A1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confirmed missing requirement</a:t>
            </a:r>
            <a:endParaRPr/>
          </a:p>
        </p:txBody>
      </p:sp>
      <p:cxnSp>
        <p:nvCxnSpPr>
          <p:cNvPr id="63" name="Google Shape;63;p4"/>
          <p:cNvCxnSpPr/>
          <p:nvPr/>
        </p:nvCxnSpPr>
        <p:spPr>
          <a:xfrm>
            <a:off x="1143000" y="3246120"/>
            <a:ext cx="9784080" cy="0"/>
          </a:xfrm>
          <a:prstGeom prst="straightConnector1">
            <a:avLst/>
          </a:prstGeom>
          <a:noFill/>
          <a:ln cap="flat" cmpd="sng" w="254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p4"/>
          <p:cNvSpPr/>
          <p:nvPr/>
        </p:nvSpPr>
        <p:spPr>
          <a:xfrm>
            <a:off x="1120133" y="3017520"/>
            <a:ext cx="1645800" cy="457200"/>
          </a:xfrm>
          <a:prstGeom prst="rect">
            <a:avLst/>
          </a:prstGeom>
          <a:solidFill>
            <a:srgbClr val="2563EB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JD requirements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" name="Google Shape;65;p4"/>
          <p:cNvCxnSpPr>
            <a:stCxn id="64" idx="3"/>
            <a:endCxn id="66" idx="1"/>
          </p:cNvCxnSpPr>
          <p:nvPr/>
        </p:nvCxnSpPr>
        <p:spPr>
          <a:xfrm>
            <a:off x="2765933" y="3246120"/>
            <a:ext cx="1143000" cy="0"/>
          </a:xfrm>
          <a:prstGeom prst="straightConnector1">
            <a:avLst/>
          </a:prstGeom>
          <a:noFill/>
          <a:ln cap="flat" cmpd="sng" w="25400">
            <a:solidFill>
              <a:srgbClr val="D0D5D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6" name="Google Shape;66;p4"/>
          <p:cNvSpPr/>
          <p:nvPr/>
        </p:nvSpPr>
        <p:spPr>
          <a:xfrm>
            <a:off x="3909065" y="3017520"/>
            <a:ext cx="1645800" cy="457200"/>
          </a:xfrm>
          <a:prstGeom prst="rect">
            <a:avLst/>
          </a:prstGeom>
          <a:solidFill>
            <a:srgbClr val="7C3AED"/>
          </a:solidFill>
          <a:ln cap="flat" cmpd="sng" w="9525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Evidence IDs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" name="Google Shape;67;p4"/>
          <p:cNvCxnSpPr>
            <a:stCxn id="66" idx="3"/>
            <a:endCxn id="68" idx="1"/>
          </p:cNvCxnSpPr>
          <p:nvPr/>
        </p:nvCxnSpPr>
        <p:spPr>
          <a:xfrm>
            <a:off x="5554865" y="3246120"/>
            <a:ext cx="891600" cy="0"/>
          </a:xfrm>
          <a:prstGeom prst="straightConnector1">
            <a:avLst/>
          </a:prstGeom>
          <a:noFill/>
          <a:ln cap="flat" cmpd="sng" w="25400">
            <a:solidFill>
              <a:srgbClr val="D0D5D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8" name="Google Shape;68;p4"/>
          <p:cNvSpPr/>
          <p:nvPr/>
        </p:nvSpPr>
        <p:spPr>
          <a:xfrm>
            <a:off x="6446535" y="3017520"/>
            <a:ext cx="1645800" cy="457200"/>
          </a:xfrm>
          <a:prstGeom prst="rect">
            <a:avLst/>
          </a:prstGeom>
          <a:solidFill>
            <a:srgbClr val="15803D"/>
          </a:solidFill>
          <a:ln cap="flat" cmpd="sng" w="9525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Grounded draft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" name="Google Shape;69;p4"/>
          <p:cNvCxnSpPr>
            <a:stCxn id="68" idx="3"/>
            <a:endCxn id="70" idx="1"/>
          </p:cNvCxnSpPr>
          <p:nvPr/>
        </p:nvCxnSpPr>
        <p:spPr>
          <a:xfrm>
            <a:off x="8092335" y="3246120"/>
            <a:ext cx="777300" cy="0"/>
          </a:xfrm>
          <a:prstGeom prst="straightConnector1">
            <a:avLst/>
          </a:prstGeom>
          <a:noFill/>
          <a:ln cap="flat" cmpd="sng" w="25400">
            <a:solidFill>
              <a:srgbClr val="D0D5D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0" name="Google Shape;70;p4"/>
          <p:cNvSpPr/>
          <p:nvPr/>
        </p:nvSpPr>
        <p:spPr>
          <a:xfrm>
            <a:off x="8869680" y="3017520"/>
            <a:ext cx="1645920" cy="457200"/>
          </a:xfrm>
          <a:prstGeom prst="rect">
            <a:avLst/>
          </a:prstGeom>
          <a:solidFill>
            <a:srgbClr val="B45309"/>
          </a:solidFill>
          <a:ln cap="flat" cmpd="sng" w="9525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Provenance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1280160" y="4617720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Controls prevent named-tool leakage, invented metrics, date drift, unsupported ownership claims, and cross-document inconsistencies.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502920" y="644652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099"/>
              </a:buClr>
              <a:buSzPts val="850"/>
              <a:buFont typeface="Arial"/>
              <a:buNone/>
            </a:pPr>
            <a:r>
              <a:rPr b="0" i="0" lang="en-US" sz="900" u="none" cap="none" strike="noStrike">
                <a:solidFill>
                  <a:srgbClr val="6E7680"/>
                </a:solidFill>
                <a:latin typeface="Arial"/>
                <a:ea typeface="Arial"/>
                <a:cs typeface="Arial"/>
                <a:sym typeface="Arial"/>
              </a:rPr>
              <a:t>treeflow-ai / career-application-agent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5"/>
          <p:cNvSpPr/>
          <p:nvPr/>
        </p:nvSpPr>
        <p:spPr>
          <a:xfrm>
            <a:off x="502920" y="320040"/>
            <a:ext cx="8138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700"/>
              <a:buFont typeface="Play"/>
              <a:buNone/>
            </a:pPr>
            <a:r>
              <a:rPr b="1" i="0" lang="en-US" sz="3000" u="none" cap="none" strike="noStrike">
                <a:solidFill>
                  <a:srgbClr val="18181B"/>
                </a:solidFill>
                <a:latin typeface="Play"/>
                <a:ea typeface="Play"/>
                <a:cs typeface="Play"/>
                <a:sym typeface="Play"/>
              </a:rPr>
              <a:t>What to review in the repository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521208" y="84124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2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The repo is designed to be skimmed visually, then inspected through samples and tests.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868680" y="1234440"/>
            <a:ext cx="2377440" cy="457200"/>
          </a:xfrm>
          <a:prstGeom prst="rect">
            <a:avLst/>
          </a:prstGeom>
          <a:solidFill>
            <a:srgbClr val="2563EB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README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3474720" y="133502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quick overview + setup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868680" y="2057400"/>
            <a:ext cx="2377440" cy="457200"/>
          </a:xfrm>
          <a:prstGeom prst="rect">
            <a:avLst/>
          </a:prstGeom>
          <a:solidFill>
            <a:srgbClr val="15803D"/>
          </a:solidFill>
          <a:ln cap="flat" cmpd="sng" w="9525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docs/architecture.svg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3474720" y="215798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workflow diagram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68680" y="2880360"/>
            <a:ext cx="2377440" cy="457200"/>
          </a:xfrm>
          <a:prstGeom prst="rect">
            <a:avLst/>
          </a:prstGeom>
          <a:solidFill>
            <a:srgbClr val="7C3AED"/>
          </a:solidFill>
          <a:ln cap="flat" cmpd="sng" w="9525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samples/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347472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fictional end-to-end run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868680" y="3703320"/>
            <a:ext cx="2377440" cy="457200"/>
          </a:xfrm>
          <a:prstGeom prst="rect">
            <a:avLst/>
          </a:prstGeom>
          <a:solidFill>
            <a:srgbClr val="B45309"/>
          </a:solidFill>
          <a:ln cap="flat" cmpd="sng" w="9525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skills/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3474720" y="380390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reusable agent procedures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868680" y="4526280"/>
            <a:ext cx="2377440" cy="457200"/>
          </a:xfrm>
          <a:prstGeom prst="rect">
            <a:avLst/>
          </a:prstGeom>
          <a:solidFill>
            <a:srgbClr val="B91C1C"/>
          </a:solidFill>
          <a:ln cap="flat" cmpd="sng" w="9525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scripts/ + tests/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474720" y="462686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release gates and regression tests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7863840" y="1325880"/>
            <a:ext cx="3063240" cy="3337560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275" lIns="2275" spcFirstLastPara="1" rIns="2275" wrap="square" tIns="2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Arial"/>
              <a:buNone/>
            </a:pPr>
            <a:r>
              <a:rPr b="1" i="0" lang="en-US" sz="1800" u="none" cap="none" strike="noStrike">
                <a:solidFill>
                  <a:srgbClr val="166534"/>
                </a:solidFill>
                <a:latin typeface="Arial"/>
                <a:ea typeface="Arial"/>
                <a:cs typeface="Arial"/>
                <a:sym typeface="Arial"/>
              </a:rPr>
              <a:t>Fast takeaway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" marR="9144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3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This is not a single resume prompt. </a:t>
            </a:r>
            <a:endParaRPr b="0" i="0" sz="1400" u="none" cap="none" strike="noStrike">
              <a:solidFill>
                <a:srgbClr val="5F667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" marR="9144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3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5F667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" marR="9144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672"/>
              </a:buClr>
              <a:buSzPts val="1300"/>
              <a:buFont typeface="Arial"/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It is a stateful agent workflow with explicit evidence boundaries, opening verification, validation, and durable application history.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502920" y="644652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099"/>
              </a:buClr>
              <a:buSzPts val="850"/>
              <a:buFont typeface="Arial"/>
              <a:buNone/>
            </a:pPr>
            <a:r>
              <a:rPr b="0" i="0" lang="en-US" sz="900" u="none" cap="none" strike="noStrike">
                <a:solidFill>
                  <a:srgbClr val="6E7680"/>
                </a:solidFill>
                <a:latin typeface="Arial"/>
                <a:ea typeface="Arial"/>
                <a:cs typeface="Arial"/>
                <a:sym typeface="Arial"/>
              </a:rPr>
              <a:t>treeflow-ai / career-application-agent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"/>
          <p:cNvSpPr txBox="1"/>
          <p:nvPr/>
        </p:nvSpPr>
        <p:spPr>
          <a:xfrm>
            <a:off x="502920" y="329184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8181B"/>
                </a:solidFill>
                <a:latin typeface="Play"/>
                <a:ea typeface="Play"/>
                <a:cs typeface="Play"/>
                <a:sym typeface="Play"/>
              </a:rPr>
              <a:t>Design choices</a:t>
            </a:r>
            <a:endParaRPr/>
          </a:p>
        </p:txBody>
      </p:sp>
      <p:sp>
        <p:nvSpPr>
          <p:cNvPr id="97" name="Google Shape;97;p8"/>
          <p:cNvSpPr txBox="1"/>
          <p:nvPr/>
        </p:nvSpPr>
        <p:spPr>
          <a:xfrm>
            <a:off x="530352" y="877824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The agent is designed around failure modes, not just prompt convenience.</a:t>
            </a:r>
            <a:endParaRPr/>
          </a:p>
        </p:txBody>
      </p:sp>
      <p:sp>
        <p:nvSpPr>
          <p:cNvPr id="98" name="Google Shape;98;p8"/>
          <p:cNvSpPr txBox="1"/>
          <p:nvPr/>
        </p:nvSpPr>
        <p:spPr>
          <a:xfrm>
            <a:off x="502920" y="6355080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E7680"/>
                </a:solidFill>
                <a:latin typeface="Arial"/>
                <a:ea typeface="Arial"/>
                <a:cs typeface="Arial"/>
                <a:sym typeface="Arial"/>
              </a:rPr>
              <a:t>treeflow-ai / career-application-agent</a:t>
            </a:r>
            <a:endParaRPr/>
          </a:p>
        </p:txBody>
      </p:sp>
      <p:sp>
        <p:nvSpPr>
          <p:cNvPr id="99" name="Google Shape;99;p8"/>
          <p:cNvSpPr/>
          <p:nvPr/>
        </p:nvSpPr>
        <p:spPr>
          <a:xfrm>
            <a:off x="685800" y="1508760"/>
            <a:ext cx="3429000" cy="3520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91425" lIns="146300" spcFirstLastPara="1" rIns="146300" wrap="square" tIns="109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1. Ground claims in evidence</a:t>
            </a:r>
            <a:endParaRPr b="1" i="0" sz="1800" u="none" cap="none" strike="noStrike">
              <a:solidFill>
                <a:srgbClr val="11182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111827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The job description can influence selection and wording, but it cannot create candidate facts. Claims must trace back to verified or user-confirmed evidence.</a:t>
            </a:r>
            <a:endParaRPr/>
          </a:p>
        </p:txBody>
      </p:sp>
      <p:sp>
        <p:nvSpPr>
          <p:cNvPr id="100" name="Google Shape;100;p8"/>
          <p:cNvSpPr/>
          <p:nvPr/>
        </p:nvSpPr>
        <p:spPr>
          <a:xfrm>
            <a:off x="4434840" y="1508760"/>
            <a:ext cx="3429000" cy="3520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91425" lIns="146300" spcFirstLastPara="1" rIns="146300" wrap="square" tIns="109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2. Separate reasoning from invariants</a:t>
            </a:r>
            <a:endParaRPr b="1" i="0" sz="1800" u="none" cap="none" strike="noStrike">
              <a:solidFill>
                <a:srgbClr val="11182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111827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LLM skills handle interpretation, fit analysis, and drafting. Code enforces hard boundaries such as evidence IDs, link integrity, privacy, and state rules.</a:t>
            </a:r>
            <a:endParaRPr/>
          </a:p>
        </p:txBody>
      </p:sp>
      <p:sp>
        <p:nvSpPr>
          <p:cNvPr id="101" name="Google Shape;101;p8"/>
          <p:cNvSpPr/>
          <p:nvPr/>
        </p:nvSpPr>
        <p:spPr>
          <a:xfrm>
            <a:off x="8183879" y="1508760"/>
            <a:ext cx="3429000" cy="3520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91425" lIns="146300" spcFirstLastPara="1" rIns="146300" wrap="square" tIns="109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3. Fail to unknown</a:t>
            </a:r>
            <a:endParaRPr b="1" i="0" sz="1800" u="none" cap="none" strike="noStrike">
              <a:solidFill>
                <a:srgbClr val="11182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111827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If a job opening, tool claim, metric, date, or qualification cannot be verified, the system records a gap instead of inventing certainty.</a:t>
            </a:r>
            <a:endParaRPr/>
          </a:p>
        </p:txBody>
      </p:sp>
      <p:sp>
        <p:nvSpPr>
          <p:cNvPr id="102" name="Google Shape;102;p8"/>
          <p:cNvSpPr txBox="1"/>
          <p:nvPr/>
        </p:nvSpPr>
        <p:spPr>
          <a:xfrm>
            <a:off x="1234440" y="5321808"/>
            <a:ext cx="9738360" cy="530352"/>
          </a:xfrm>
          <a:prstGeom prst="rect">
            <a:avLst/>
          </a:prstGeom>
          <a:solidFill>
            <a:srgbClr val="F0F7F3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137150" spcFirstLastPara="1" rIns="13715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Use AI for judgment and drafting; use checks for facts, safety, and release quality.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9"/>
          <p:cNvSpPr txBox="1"/>
          <p:nvPr/>
        </p:nvSpPr>
        <p:spPr>
          <a:xfrm>
            <a:off x="502920" y="329184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8181B"/>
                </a:solidFill>
                <a:latin typeface="Play"/>
                <a:ea typeface="Play"/>
                <a:cs typeface="Play"/>
                <a:sym typeface="Play"/>
              </a:rPr>
              <a:t>How to use and verify it</a:t>
            </a:r>
            <a:endParaRPr/>
          </a:p>
        </p:txBody>
      </p:sp>
      <p:sp>
        <p:nvSpPr>
          <p:cNvPr id="108" name="Google Shape;108;p9"/>
          <p:cNvSpPr txBox="1"/>
          <p:nvPr/>
        </p:nvSpPr>
        <p:spPr>
          <a:xfrm>
            <a:off x="530352" y="877824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05864"/>
                </a:solidFill>
                <a:latin typeface="Arial"/>
                <a:ea typeface="Arial"/>
                <a:cs typeface="Arial"/>
                <a:sym typeface="Arial"/>
              </a:rPr>
              <a:t>The repository is meant to be inspected through example data, workflow traces, and release gates.</a:t>
            </a:r>
            <a:endParaRPr/>
          </a:p>
        </p:txBody>
      </p:sp>
      <p:sp>
        <p:nvSpPr>
          <p:cNvPr id="109" name="Google Shape;109;p9"/>
          <p:cNvSpPr txBox="1"/>
          <p:nvPr/>
        </p:nvSpPr>
        <p:spPr>
          <a:xfrm>
            <a:off x="502920" y="6355080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E7680"/>
                </a:solidFill>
                <a:latin typeface="Arial"/>
                <a:ea typeface="Arial"/>
                <a:cs typeface="Arial"/>
                <a:sym typeface="Arial"/>
              </a:rPr>
              <a:t>treeflow-ai / career-application-agent</a:t>
            </a:r>
            <a:endParaRPr/>
          </a:p>
        </p:txBody>
      </p:sp>
      <p:sp>
        <p:nvSpPr>
          <p:cNvPr id="110" name="Google Shape;110;p9"/>
          <p:cNvSpPr txBox="1"/>
          <p:nvPr/>
        </p:nvSpPr>
        <p:spPr>
          <a:xfrm>
            <a:off x="685800" y="1325880"/>
            <a:ext cx="5074800" cy="45252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111827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Use path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B5563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• Copy example profile/evidence files into local ignored files.</a:t>
            </a:r>
            <a:endParaRPr b="0" i="0" sz="1400" u="none" cap="none" strike="noStrike">
              <a:solidFill>
                <a:srgbClr val="4B556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B5563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• Start with a search goal or a specific role URL.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B5563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• Verify official opening status before drafting.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B5563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• Map JD requirements to DIRECT / TRANSFERABLE / UNKNOWN / UNMET.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B5563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• Generate reviewable materials, then validate before release.</a:t>
            </a:r>
            <a:endParaRPr b="0" i="0" sz="1400" u="none" cap="none" strike="noStrike">
              <a:solidFill>
                <a:srgbClr val="4B556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B5563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B5563"/>
              </a:solidFill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6446520" y="1325880"/>
            <a:ext cx="4983480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91425" lIns="146300" spcFirstLastPara="1" rIns="146300" wrap="square" tIns="109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Mechanical validation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Schemas, required files, private-file guardrails, hyperlinks, and state-history merge behavior.</a:t>
            </a:r>
            <a:endParaRPr/>
          </a:p>
        </p:txBody>
      </p:sp>
      <p:sp>
        <p:nvSpPr>
          <p:cNvPr id="112" name="Google Shape;112;p9"/>
          <p:cNvSpPr/>
          <p:nvPr/>
        </p:nvSpPr>
        <p:spPr>
          <a:xfrm>
            <a:off x="6446520" y="2606040"/>
            <a:ext cx="4983480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91425" lIns="146300" spcFirstLastPara="1" rIns="146300" wrap="square" tIns="109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Grounding validation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Evidence IDs must exist; unknown or unmet requirements cannot become candidate claims.</a:t>
            </a:r>
            <a:endParaRPr/>
          </a:p>
        </p:txBody>
      </p:sp>
      <p:sp>
        <p:nvSpPr>
          <p:cNvPr id="113" name="Google Shape;113;p9"/>
          <p:cNvSpPr/>
          <p:nvPr/>
        </p:nvSpPr>
        <p:spPr>
          <a:xfrm>
            <a:off x="6446520" y="3886200"/>
            <a:ext cx="4983480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91425" lIns="146300" spcFirstLastPara="1" rIns="146300" wrap="square" tIns="109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Human/semantic review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 reviewer checks relevance, scope, tone, and whether the output is ready to submit.</a:t>
            </a:r>
            <a:endParaRPr/>
          </a:p>
        </p:txBody>
      </p:sp>
      <p:sp>
        <p:nvSpPr>
          <p:cNvPr id="114" name="Google Shape;114;p9"/>
          <p:cNvSpPr txBox="1"/>
          <p:nvPr/>
        </p:nvSpPr>
        <p:spPr>
          <a:xfrm>
            <a:off x="6446520" y="5230368"/>
            <a:ext cx="4983480" cy="420624"/>
          </a:xfrm>
          <a:prstGeom prst="rect">
            <a:avLst/>
          </a:prstGeom>
          <a:solidFill>
            <a:srgbClr val="F0F7F3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Release gate: python scripts/release_gate.py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2026-09-25T19:41:56Z</dcterms:created>
  <dc:creator>TreeFlow AI</dc:creator>
</cp:coreProperties>
</file>