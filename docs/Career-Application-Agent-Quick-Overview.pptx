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3"/>
    <p:sldId id="262" r:id="rId14"/>
  </p:sldIdLst>
  <p:sldSz cy="6858000" cx="12191675"/>
  <p:notesSz cx="6858000" cy="12191675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GhvqOqQuJ+CLwDFs/Mup+Llyd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font" Target="fonts/Play-regular.fntdata"/><Relationship Id="rId11" Type="http://schemas.openxmlformats.org/officeDocument/2006/relationships/font" Target="fonts/Play-bold.fntdata"/><Relationship Id="rId12" Type="http://customschemas.google.com/relationships/presentationmetadata" Target="metadata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94360" y="71323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Play"/>
              <a:buNone/>
              <a:defRPr sz="3400" b="1">
                <a:solidFill>
                  <a:srgbClr val="18181B"/>
                </a:solidFill>
              </a:defRPr>
            </a:pPr>
            <a:r>
              <a:rPr b="1" i="0" lang="en-US" sz="3400" u="none" cap="none" strike="noStrike">
                <a:solidFill>
                  <a:srgbClr val="18181B"/>
                </a:solidFill>
                <a:latin typeface="Play"/>
                <a:ea typeface="Play"/>
                <a:cs typeface="Play"/>
                <a:sym typeface="Play"/>
              </a:rPr>
              <a:t>Career Application Agent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21792" y="1307592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7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A stateful, evidence-grounded workflow for finding roles, verifying openings, and generating reviewable application packages.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2834640"/>
            <a:ext cx="1600200" cy="4572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800" b="1">
                <a:solidFill>
                  <a:srgbClr val="DC2626"/>
                </a:solidFill>
              </a:defRPr>
            </a:pPr>
            <a:r>
              <a:rPr b="1" i="0" lang="en-US" u="none" cap="none" strike="noStrik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336499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1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current roles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2606040" y="306324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D0D5D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" name="Google Shape;21;p1"/>
          <p:cNvSpPr/>
          <p:nvPr/>
        </p:nvSpPr>
        <p:spPr>
          <a:xfrm>
            <a:off x="3429000" y="2834640"/>
            <a:ext cx="1600200" cy="457200"/>
          </a:xfrm>
          <a:prstGeom prst="rect">
            <a:avLst/>
          </a:prstGeom>
          <a:solidFill>
            <a:srgbClr val="15803D"/>
          </a:solidFill>
          <a:ln cap="flat" cmpd="sng" w="9525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800" b="1">
                <a:solidFill>
                  <a:srgbClr val="EA580C"/>
                </a:solidFill>
              </a:defRPr>
            </a:pPr>
            <a:r>
              <a:rPr b="1" i="0" lang="en-US" u="none" cap="none" strike="noStrik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429000" y="336499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1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official posting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5212080" y="306324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D0D5D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" name="Google Shape;24;p1"/>
          <p:cNvSpPr/>
          <p:nvPr/>
        </p:nvSpPr>
        <p:spPr>
          <a:xfrm>
            <a:off x="6035040" y="2834640"/>
            <a:ext cx="1600200" cy="4572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800" b="1">
                <a:solidFill>
                  <a:srgbClr val="7C3AED"/>
                </a:solidFill>
              </a:defRPr>
            </a:pPr>
            <a:r>
              <a:rPr b="1" i="0" lang="en-US" u="none" cap="none" strike="noStrik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Ground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035040" y="336499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1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candidate evidence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1"/>
          <p:cNvCxnSpPr/>
          <p:nvPr/>
        </p:nvCxnSpPr>
        <p:spPr>
          <a:xfrm>
            <a:off x="7818120" y="306324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D0D5D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" name="Google Shape;27;p1"/>
          <p:cNvSpPr/>
          <p:nvPr/>
        </p:nvSpPr>
        <p:spPr>
          <a:xfrm>
            <a:off x="8641080" y="2834640"/>
            <a:ext cx="1600200" cy="457200"/>
          </a:xfrm>
          <a:prstGeom prst="rect">
            <a:avLst/>
          </a:prstGeom>
          <a:solidFill>
            <a:srgbClr val="B45309"/>
          </a:solidFill>
          <a:ln cap="flat" cmpd="sng" w="952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800" b="1">
                <a:solidFill>
                  <a:srgbClr val="166534"/>
                </a:solidFill>
              </a:defRPr>
            </a:pPr>
            <a:r>
              <a:rPr b="1" i="0" lang="en-US" u="none" cap="none" strike="noStrik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641080" y="336499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1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release quality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22960" y="4343400"/>
            <a:ext cx="9692640" cy="640080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Project output: </a:t>
            </a: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resume · cover letter · notes · provenance · application history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99"/>
              </a:buClr>
              <a:buSzPts val="850"/>
              <a:buFont typeface="Arial"/>
              <a:buNone/>
              <a:defRPr sz="900" b="0">
                <a:solidFill>
                  <a:srgbClr val="6E7680"/>
                </a:solidFill>
              </a:defRPr>
            </a:pPr>
            <a:r>
              <a:rPr b="0" i="0" lang="en-US" sz="900" u="none" cap="none" strike="noStrike">
                <a:solidFill>
                  <a:srgbClr val="6E7680"/>
                </a:solidFill>
                <a:latin typeface="Arial"/>
                <a:ea typeface="Arial"/>
                <a:cs typeface="Arial"/>
                <a:sym typeface="Arial"/>
              </a:rPr>
              <a:t>treeflow-ai / career-application-agent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502920" y="320040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Play"/>
              <a:buNone/>
              <a:defRPr sz="3000" b="1">
                <a:solidFill>
                  <a:srgbClr val="18181B"/>
                </a:solidFill>
              </a:defRPr>
            </a:pPr>
            <a:r>
              <a:rPr b="1" i="0" lang="en-US" sz="3000" u="none" cap="none" strike="noStrike">
                <a:solidFill>
                  <a:srgbClr val="18181B"/>
                </a:solidFill>
                <a:latin typeface="Play"/>
                <a:ea typeface="Play"/>
                <a:cs typeface="Play"/>
                <a:sym typeface="Play"/>
              </a:rPr>
              <a:t>AI drafting needs controls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21208" y="84124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25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The agent separates role status, candidate evidence, and quality gates.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31520" y="1508760"/>
            <a:ext cx="2880360" cy="13258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77800" spcFirstLastPara="1" rIns="177800" wrap="square" tIns="127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Stale openings</a:t>
            </a:r>
            <a:endParaRPr b="1" i="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/>
          <a:p>
            <a:pPr algn="l"/>
            <a:r>
              <a:rPr sz="1400" b="0">
                <a:solidFill>
                  <a:srgbClr val="505864"/>
                </a:solidFill>
              </a:rPr>
              <a:t>Search results and copied job descriptions are not proof that a role is still open.</a:t>
            </a:r>
          </a:p>
        </p:txBody>
      </p:sp>
      <p:sp>
        <p:nvSpPr>
          <p:cNvPr id="39" name="Google Shape;39;p2"/>
          <p:cNvSpPr/>
          <p:nvPr/>
        </p:nvSpPr>
        <p:spPr>
          <a:xfrm>
            <a:off x="4617720" y="1508760"/>
            <a:ext cx="2880360" cy="13258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77800" spcFirstLastPara="1" rIns="177800" wrap="square" tIns="127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Unsupported claims</a:t>
            </a:r>
            <a:endParaRPr b="1" i="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/>
          <a:p>
            <a:pPr algn="l"/>
            <a:r>
              <a:rPr sz="1400" b="0">
                <a:solidFill>
                  <a:srgbClr val="505864"/>
                </a:solidFill>
              </a:rPr>
              <a:t>A job description lists desired skills, not facts about the candidate.</a:t>
            </a:r>
          </a:p>
        </p:txBody>
      </p:sp>
      <p:sp>
        <p:nvSpPr>
          <p:cNvPr id="40" name="Google Shape;40;p2"/>
          <p:cNvSpPr/>
          <p:nvPr/>
        </p:nvSpPr>
        <p:spPr>
          <a:xfrm>
            <a:off x="8503920" y="1508760"/>
            <a:ext cx="2880360" cy="13258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77800" spcFirstLastPara="1" rIns="177800" wrap="square" tIns="127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Unreviewed output</a:t>
            </a:r>
            <a:endParaRPr b="1" i="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/>
          <a:p>
            <a:pPr algn="l"/>
            <a:r>
              <a:rPr sz="1400" b="0">
                <a:solidFill>
                  <a:srgbClr val="505864"/>
                </a:solidFill>
              </a:rPr>
              <a:t>A fluent resume can still contain broken links, chronology drift, or inflated scope.</a:t>
            </a:r>
          </a:p>
        </p:txBody>
      </p:sp>
      <p:sp>
        <p:nvSpPr>
          <p:cNvPr id="41" name="Google Shape;41;p2"/>
          <p:cNvSpPr/>
          <p:nvPr/>
        </p:nvSpPr>
        <p:spPr>
          <a:xfrm>
            <a:off x="3931920" y="3794760"/>
            <a:ext cx="4297680" cy="12344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0" lIns="177800" spcFirstLastPara="1" rIns="177800" wrap="square" tIns="127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Design principle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/>
          <a:p>
            <a:pPr algn="ctr"/>
            <a:r>
              <a:rPr sz="1400" b="0">
                <a:solidFill>
                  <a:srgbClr val="505864"/>
                </a:solidFill>
              </a:rPr>
              <a:t>Use AI for interpretation and drafting; keep facts, opening status, and release quality behind evidence and deterministic checks.</a:t>
            </a:r>
          </a:p>
        </p:txBody>
      </p:sp>
      <p:sp>
        <p:nvSpPr>
          <p:cNvPr id="42" name="Google Shape;42;p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99"/>
              </a:buClr>
              <a:buSzPts val="850"/>
              <a:buFont typeface="Arial"/>
              <a:buNone/>
              <a:defRPr sz="900" b="0">
                <a:solidFill>
                  <a:srgbClr val="6E7680"/>
                </a:solidFill>
              </a:defRPr>
            </a:pPr>
            <a:r>
              <a:rPr b="0" i="0" lang="en-US" sz="900" u="none" cap="none" strike="noStrike">
                <a:solidFill>
                  <a:srgbClr val="6E7680"/>
                </a:solidFill>
                <a:latin typeface="Arial"/>
                <a:ea typeface="Arial"/>
                <a:cs typeface="Arial"/>
                <a:sym typeface="Arial"/>
              </a:rPr>
              <a:t>treeflow-ai / career-application-agent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502920" y="320040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Play"/>
              <a:buNone/>
              <a:defRPr sz="3000" b="1">
                <a:solidFill>
                  <a:srgbClr val="18181B"/>
                </a:solidFill>
              </a:defRPr>
            </a:pPr>
            <a:r>
              <a:rPr b="1" i="0" lang="en-US" sz="3000" u="none" cap="none" strike="noStrike">
                <a:solidFill>
                  <a:srgbClr val="18181B"/>
                </a:solidFill>
                <a:latin typeface="Play"/>
                <a:ea typeface="Play"/>
                <a:cs typeface="Play"/>
                <a:sym typeface="Play"/>
              </a:rPr>
              <a:t>End-to-end workflow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21208" y="84124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25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Two entry paths feed the same evidence-grounded application pipeline.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caa_update/career-application-agent/docs/architecture.png" id="50" name="Google Shape;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43000"/>
            <a:ext cx="10835640" cy="516636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99"/>
              </a:buClr>
              <a:buSzPts val="850"/>
              <a:buFont typeface="Arial"/>
              <a:buNone/>
              <a:defRPr sz="900" b="0">
                <a:solidFill>
                  <a:srgbClr val="6E7680"/>
                </a:solidFill>
              </a:defRPr>
            </a:pPr>
            <a:r>
              <a:rPr b="0" i="0" lang="en-US" sz="900" u="none" cap="none" strike="noStrike">
                <a:solidFill>
                  <a:srgbClr val="6E7680"/>
                </a:solidFill>
                <a:latin typeface="Arial"/>
                <a:ea typeface="Arial"/>
                <a:cs typeface="Arial"/>
                <a:sym typeface="Arial"/>
              </a:rPr>
              <a:t>treeflow-ai / career-application-agent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502920" y="320040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Play"/>
              <a:buNone/>
              <a:defRPr sz="3000" b="1">
                <a:solidFill>
                  <a:srgbClr val="18181B"/>
                </a:solidFill>
              </a:defRPr>
            </a:pPr>
            <a:r>
              <a:rPr b="1" i="0" lang="en-US" sz="3000" u="none" cap="none" strike="noStrike">
                <a:solidFill>
                  <a:srgbClr val="18181B"/>
                </a:solidFill>
                <a:latin typeface="Play"/>
                <a:ea typeface="Play"/>
                <a:cs typeface="Play"/>
                <a:sym typeface="Play"/>
              </a:rPr>
              <a:t>Evidence grounding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21208" y="84124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25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The job description is role evidence, not candidate evidence.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94360" y="1399032"/>
            <a:ext cx="2331720" cy="107899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40" lIns="146304" spcFirstLastPara="1" rIns="146304" wrap="square" tIns="109728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DIRECT</a:t>
            </a:r>
            <a:endParaRPr b="1" i="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</a:p>
          <a:p>
            <a:pPr algn="ctr"/>
            <a:r>
              <a:rPr sz="1400" b="0">
                <a:solidFill>
                  <a:srgbClr val="4B5563"/>
                </a:solidFill>
              </a:rPr>
              <a:t>strong verified evidence</a:t>
            </a:r>
          </a:p>
        </p:txBody>
      </p:sp>
      <p:sp>
        <p:nvSpPr>
          <p:cNvPr id="60" name="Google Shape;60;p4"/>
          <p:cNvSpPr/>
          <p:nvPr/>
        </p:nvSpPr>
        <p:spPr>
          <a:xfrm>
            <a:off x="3502152" y="1399032"/>
            <a:ext cx="2331720" cy="107899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40" lIns="146304" spcFirstLastPara="1" rIns="146304" wrap="square" tIns="109728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TRANSFERABLE</a:t>
            </a:r>
            <a:endParaRPr b="1" i="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</a:p>
          <a:p>
            <a:pPr algn="ctr"/>
            <a:r>
              <a:rPr sz="1400" b="0">
                <a:solidFill>
                  <a:srgbClr val="4B5563"/>
                </a:solidFill>
              </a:rPr>
              <a:t>adjacent evidence, described carefully</a:t>
            </a:r>
          </a:p>
        </p:txBody>
      </p:sp>
      <p:sp>
        <p:nvSpPr>
          <p:cNvPr id="61" name="Google Shape;61;p4"/>
          <p:cNvSpPr/>
          <p:nvPr/>
        </p:nvSpPr>
        <p:spPr>
          <a:xfrm>
            <a:off x="6409944" y="1399032"/>
            <a:ext cx="2331720" cy="107899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40" lIns="146304" spcFirstLastPara="1" rIns="146304" wrap="square" tIns="109728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UNKNOWN</a:t>
            </a:r>
            <a:endParaRPr b="1" i="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</a:p>
          <a:p>
            <a:pPr algn="ctr"/>
            <a:r>
              <a:rPr sz="1400" b="0">
                <a:solidFill>
                  <a:srgbClr val="4B5563"/>
                </a:solidFill>
              </a:rPr>
              <a:t>not established; ask or record a gap</a:t>
            </a:r>
          </a:p>
        </p:txBody>
      </p:sp>
      <p:sp>
        <p:nvSpPr>
          <p:cNvPr id="62" name="Google Shape;62;p4"/>
          <p:cNvSpPr/>
          <p:nvPr/>
        </p:nvSpPr>
        <p:spPr>
          <a:xfrm>
            <a:off x="9317736" y="1399032"/>
            <a:ext cx="2331720" cy="1078992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40" lIns="146304" spcFirstLastPara="1" rIns="146304" wrap="square" tIns="109728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UNMET</a:t>
            </a:r>
            <a:endParaRPr b="1" i="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</a:p>
          <a:p>
            <a:pPr algn="ctr"/>
            <a:r>
              <a:rPr sz="1400" b="0">
                <a:solidFill>
                  <a:srgbClr val="4B5563"/>
                </a:solidFill>
              </a:rPr>
              <a:t>confirmed missing requirement</a:t>
            </a:r>
          </a:p>
        </p:txBody>
      </p:sp>
      <p:cxnSp>
        <p:nvCxnSpPr>
          <p:cNvPr id="63" name="Google Shape;63;p4"/>
          <p:cNvCxnSpPr/>
          <p:nvPr/>
        </p:nvCxnSpPr>
        <p:spPr>
          <a:xfrm>
            <a:off x="1143000" y="3246120"/>
            <a:ext cx="9784080" cy="0"/>
          </a:xfrm>
          <a:prstGeom prst="straightConnector1">
            <a:avLst/>
          </a:prstGeom>
          <a:noFill/>
          <a:ln cap="flat" cmpd="sng" w="254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4"/>
          <p:cNvSpPr/>
          <p:nvPr/>
        </p:nvSpPr>
        <p:spPr>
          <a:xfrm>
            <a:off x="1120133" y="3017520"/>
            <a:ext cx="1645800" cy="4572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400" b="0">
                <a:solidFill>
                  <a:srgbClr val="18181B"/>
                </a:solidFill>
              </a:defRPr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JD requirements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4"/>
          <p:cNvCxnSpPr>
            <a:stCxn id="64" idx="3"/>
            <a:endCxn id="66" idx="1"/>
          </p:cNvCxnSpPr>
          <p:nvPr/>
        </p:nvCxnSpPr>
        <p:spPr>
          <a:xfrm>
            <a:off x="2765932" y="3246120"/>
            <a:ext cx="1143000" cy="0"/>
          </a:xfrm>
          <a:prstGeom prst="straightConnector1">
            <a:avLst/>
          </a:prstGeom>
          <a:noFill/>
          <a:ln cap="flat" cmpd="sng" w="25400">
            <a:solidFill>
              <a:srgbClr val="D0D5D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" name="Google Shape;66;p4"/>
          <p:cNvSpPr/>
          <p:nvPr/>
        </p:nvSpPr>
        <p:spPr>
          <a:xfrm>
            <a:off x="3909065" y="3017520"/>
            <a:ext cx="1645800" cy="4572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400" b="0">
                <a:solidFill>
                  <a:srgbClr val="18181B"/>
                </a:solidFill>
              </a:defRPr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 IDs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4"/>
          <p:cNvCxnSpPr>
            <a:stCxn id="66" idx="3"/>
            <a:endCxn id="68" idx="1"/>
          </p:cNvCxnSpPr>
          <p:nvPr/>
        </p:nvCxnSpPr>
        <p:spPr>
          <a:xfrm>
            <a:off x="5554865" y="3246120"/>
            <a:ext cx="891600" cy="0"/>
          </a:xfrm>
          <a:prstGeom prst="straightConnector1">
            <a:avLst/>
          </a:prstGeom>
          <a:noFill/>
          <a:ln cap="flat" cmpd="sng" w="25400">
            <a:solidFill>
              <a:srgbClr val="D0D5D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" name="Google Shape;68;p4"/>
          <p:cNvSpPr/>
          <p:nvPr/>
        </p:nvSpPr>
        <p:spPr>
          <a:xfrm>
            <a:off x="6446535" y="3017520"/>
            <a:ext cx="1645800" cy="457200"/>
          </a:xfrm>
          <a:prstGeom prst="rect">
            <a:avLst/>
          </a:prstGeom>
          <a:solidFill>
            <a:srgbClr val="15803D"/>
          </a:solidFill>
          <a:ln cap="flat" cmpd="sng" w="9525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400" b="0">
                <a:solidFill>
                  <a:srgbClr val="18181B"/>
                </a:solidFill>
              </a:defRPr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Grounded draft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p4"/>
          <p:cNvCxnSpPr>
            <a:stCxn id="68" idx="3"/>
            <a:endCxn id="70" idx="1"/>
          </p:cNvCxnSpPr>
          <p:nvPr/>
        </p:nvCxnSpPr>
        <p:spPr>
          <a:xfrm>
            <a:off x="8092335" y="3246120"/>
            <a:ext cx="777300" cy="0"/>
          </a:xfrm>
          <a:prstGeom prst="straightConnector1">
            <a:avLst/>
          </a:prstGeom>
          <a:noFill/>
          <a:ln cap="flat" cmpd="sng" w="25400">
            <a:solidFill>
              <a:srgbClr val="D0D5D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" name="Google Shape;70;p4"/>
          <p:cNvSpPr/>
          <p:nvPr/>
        </p:nvSpPr>
        <p:spPr>
          <a:xfrm>
            <a:off x="8869680" y="3017520"/>
            <a:ext cx="1645920" cy="457200"/>
          </a:xfrm>
          <a:prstGeom prst="rect">
            <a:avLst/>
          </a:prstGeom>
          <a:solidFill>
            <a:srgbClr val="B45309"/>
          </a:solidFill>
          <a:ln cap="flat" cmpd="sng" w="952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400" b="0">
                <a:solidFill>
                  <a:srgbClr val="18181B"/>
                </a:solidFill>
              </a:defRPr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Provenance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280160" y="461772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Controls prevent named-tool leakage, invented metrics, date drift, unsupported ownership claims, and cross-document inconsistencies.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99"/>
              </a:buClr>
              <a:buSzPts val="850"/>
              <a:buFont typeface="Arial"/>
              <a:buNone/>
              <a:defRPr sz="900" b="0">
                <a:solidFill>
                  <a:srgbClr val="6E7680"/>
                </a:solidFill>
              </a:defRPr>
            </a:pPr>
            <a:r>
              <a:rPr b="0" i="0" lang="en-US" sz="900" u="none" cap="none" strike="noStrike">
                <a:solidFill>
                  <a:srgbClr val="6E7680"/>
                </a:solidFill>
                <a:latin typeface="Arial"/>
                <a:ea typeface="Arial"/>
                <a:cs typeface="Arial"/>
                <a:sym typeface="Arial"/>
              </a:rPr>
              <a:t>treeflow-ai / career-application-agent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502920" y="320040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700"/>
              <a:buFont typeface="Play"/>
              <a:buNone/>
              <a:defRPr sz="3000" b="1">
                <a:solidFill>
                  <a:srgbClr val="18181B"/>
                </a:solidFill>
              </a:defRPr>
            </a:pPr>
            <a:r>
              <a:rPr b="1" i="0" lang="en-US" sz="3000" u="none" cap="none" strike="noStrike">
                <a:solidFill>
                  <a:srgbClr val="18181B"/>
                </a:solidFill>
                <a:latin typeface="Play"/>
                <a:ea typeface="Play"/>
                <a:cs typeface="Play"/>
                <a:sym typeface="Play"/>
              </a:rPr>
              <a:t>What to review in the repository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21208" y="84124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25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The repo is designed to be skimmed visually, then inspected through samples and tests.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868680" y="1234440"/>
            <a:ext cx="2377440" cy="4572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README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474720" y="133502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quick overview + setup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68680" y="2057400"/>
            <a:ext cx="2377440" cy="457200"/>
          </a:xfrm>
          <a:prstGeom prst="rect">
            <a:avLst/>
          </a:prstGeom>
          <a:solidFill>
            <a:srgbClr val="15803D"/>
          </a:solidFill>
          <a:ln cap="flat" cmpd="sng" w="9525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docs/architecture.svg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474720" y="215798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workflow diagram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68680" y="2880360"/>
            <a:ext cx="2377440" cy="4572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samples/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474720" y="298094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fictional end-to-end run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68680" y="3703320"/>
            <a:ext cx="2377440" cy="457200"/>
          </a:xfrm>
          <a:prstGeom prst="rect">
            <a:avLst/>
          </a:prstGeom>
          <a:solidFill>
            <a:srgbClr val="B45309"/>
          </a:solidFill>
          <a:ln cap="flat" cmpd="sng" w="952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skills/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474720" y="380390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reusable agent procedures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68680" y="4526280"/>
            <a:ext cx="2377440" cy="457200"/>
          </a:xfrm>
          <a:prstGeom prst="rect">
            <a:avLst/>
          </a:prstGeom>
          <a:solidFill>
            <a:srgbClr val="B91C1C"/>
          </a:solidFill>
          <a:ln cap="flat" cmpd="sng" w="95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scripts/ + tests/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474720" y="462686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sz="1400" u="none" cap="none" strike="noStrike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release gates and regression tests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863840" y="1325880"/>
            <a:ext cx="3063240" cy="3337560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5" lIns="2275" spcFirstLastPara="1" rIns="2275" wrap="square" tIns="2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1" i="0" lang="en-US" sz="18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Fast takeaway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9144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3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u="none" cap="none" strike="noStrike" sz="1400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This is not a single resume prompt. </a:t>
            </a:r>
            <a:endParaRPr b="0" i="0" u="none" cap="none" strike="noStrike">
              <a:solidFill>
                <a:srgbClr val="5F66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9144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300"/>
              <a:buFont typeface="Arial"/>
              <a:buNone/>
            </a:pPr>
            <a:r>
              <a:t/>
            </a:r>
            <a:endParaRPr>
              <a:solidFill>
                <a:srgbClr val="5F6672"/>
              </a:solidFill>
            </a:endParaRPr>
          </a:p>
          <a:p>
            <a:pPr indent="0" lvl="0" marL="91440" marR="91440" rtl="0" algn="l">
              <a:spcBef>
                <a:spcPts val="0"/>
              </a:spcBef>
              <a:spcAft>
                <a:spcPts val="0"/>
              </a:spcAft>
              <a:buClr>
                <a:srgbClr val="5F6672"/>
              </a:buClr>
              <a:buSzPts val="1300"/>
              <a:buFont typeface="Arial"/>
              <a:buNone/>
              <a:defRPr sz="1400" b="0">
                <a:solidFill>
                  <a:srgbClr val="505864"/>
                </a:solidFill>
              </a:defRPr>
            </a:pPr>
            <a:r>
              <a:rPr b="0" i="0" lang="en-US" u="none" cap="none" strike="noStrike" sz="1400">
                <a:solidFill>
                  <a:srgbClr val="505864"/>
                </a:solidFill>
                <a:latin typeface="Arial"/>
                <a:ea typeface="Arial"/>
                <a:cs typeface="Arial"/>
                <a:sym typeface="Arial"/>
              </a:rPr>
              <a:t>It is a stateful agent workflow with explicit evidence boundaries, opening verification, validation, and durable application history.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99"/>
              </a:buClr>
              <a:buSzPts val="850"/>
              <a:buFont typeface="Arial"/>
              <a:buNone/>
              <a:defRPr sz="900" b="0">
                <a:solidFill>
                  <a:srgbClr val="6E7680"/>
                </a:solidFill>
              </a:defRPr>
            </a:pPr>
            <a:r>
              <a:rPr b="0" i="0" lang="en-US" sz="900" u="none" cap="none" strike="noStrike">
                <a:solidFill>
                  <a:srgbClr val="6E7680"/>
                </a:solidFill>
                <a:latin typeface="Arial"/>
                <a:ea typeface="Arial"/>
                <a:cs typeface="Arial"/>
                <a:sym typeface="Arial"/>
              </a:rPr>
              <a:t>treeflow-ai / career-application-agent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rPr b="1" sz="3000">
                <a:solidFill>
                  <a:srgbClr val="18181B"/>
                </a:solidFill>
                <a:latin typeface="Aptos Display"/>
              </a:rPr>
              <a:t>Design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778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05864"/>
                </a:solidFill>
              </a:defRPr>
            </a:pPr>
            <a:r>
              <a:rPr sz="1400" b="0">
                <a:solidFill>
                  <a:srgbClr val="505864"/>
                </a:solidFill>
                <a:latin typeface="Aptos"/>
              </a:rPr>
              <a:t>The agent is designed around failure modes, not just prompt convenience.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7680"/>
                </a:solidFill>
              </a:defRPr>
            </a:pPr>
            <a:r>
              <a:rPr sz="900" b="0">
                <a:solidFill>
                  <a:srgbClr val="6E7680"/>
                </a:solidFill>
                <a:latin typeface="Aptos"/>
              </a:rPr>
              <a:t>treeflow-ai / career-application-agent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3520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wrap="square" bIns="91440"/>
          <a:lstStyle/>
          <a:p>
            <a:pPr algn="l">
              <a:defRPr sz="1800" b="1">
                <a:solidFill>
                  <a:srgbClr val="DC2626"/>
                </a:solidFill>
              </a:defRPr>
            </a:pPr>
            <a:r>
              <a:rPr b="1" sz="1800">
                <a:solidFill>
                  <a:srgbClr val="111827"/>
                </a:solidFill>
                <a:latin typeface="Aptos"/>
              </a:rPr>
              <a:t>1. </a:t>
            </a:r>
            <a:r>
              <a:rPr b="1" sz="1800">
                <a:solidFill>
                  <a:srgbClr val="111827"/>
                </a:solidFill>
                <a:latin typeface="Aptos"/>
              </a:rPr>
              <a:t>Ground claims in evidence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313944"/>
                </a:solidFill>
              </a:defRPr>
            </a:pPr>
            <a:r>
              <a:rPr sz="1400" b="0">
                <a:solidFill>
                  <a:srgbClr val="4B5563"/>
                </a:solidFill>
                <a:latin typeface="Aptos"/>
              </a:rPr>
              <a:t>The job description can influence selection and wording, but it cannot create candidate facts. Claims must trace back to verified or user-confirmed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08760"/>
            <a:ext cx="3429000" cy="3520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wrap="square" bIns="91440"/>
          <a:lstStyle/>
          <a:p>
            <a:pPr algn="l">
              <a:defRPr sz="1800" b="1">
                <a:solidFill>
                  <a:srgbClr val="EA580C"/>
                </a:solidFill>
              </a:defRPr>
            </a:pPr>
            <a:r>
              <a:rPr b="1" sz="1800">
                <a:solidFill>
                  <a:srgbClr val="111827"/>
                </a:solidFill>
                <a:latin typeface="Aptos"/>
              </a:rPr>
              <a:t>2. </a:t>
            </a:r>
            <a:r>
              <a:rPr b="1" sz="1800">
                <a:solidFill>
                  <a:srgbClr val="111827"/>
                </a:solidFill>
                <a:latin typeface="Aptos"/>
              </a:rPr>
              <a:t>Separate reasoning from invariants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313944"/>
                </a:solidFill>
              </a:defRPr>
            </a:pPr>
            <a:r>
              <a:rPr sz="1400" b="0">
                <a:solidFill>
                  <a:srgbClr val="4B5563"/>
                </a:solidFill>
                <a:latin typeface="Aptos"/>
              </a:rPr>
              <a:t>LLM skills handle interpretation, fit analysis, and drafting. Code enforces hard boundaries such as evidence IDs, link integrity, privacy, and state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508760"/>
            <a:ext cx="3429000" cy="3520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wrap="square" bIns="91440"/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rPr b="1" sz="1800">
                <a:solidFill>
                  <a:srgbClr val="111827"/>
                </a:solidFill>
                <a:latin typeface="Aptos"/>
              </a:rPr>
              <a:t>3. </a:t>
            </a:r>
            <a:r>
              <a:rPr b="1" sz="1800">
                <a:solidFill>
                  <a:srgbClr val="111827"/>
                </a:solidFill>
                <a:latin typeface="Aptos"/>
              </a:rPr>
              <a:t>Fail to unknown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313944"/>
                </a:solidFill>
              </a:defRPr>
            </a:pPr>
            <a:r>
              <a:rPr sz="1400" b="0">
                <a:solidFill>
                  <a:srgbClr val="4B5563"/>
                </a:solidFill>
                <a:latin typeface="Aptos"/>
              </a:rPr>
              <a:t>If a job opening, tool claim, metric, date, or qualification cannot be verified, the system records a gap instead of inventing certainty.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321808"/>
            <a:ext cx="9738360" cy="530352"/>
          </a:xfrm>
          <a:prstGeom prst="rect">
            <a:avLst/>
          </a:prstGeom>
          <a:solidFill>
            <a:srgbClr val="F0F7F3"/>
          </a:solidFill>
          <a:ln w="19050">
            <a:solidFill>
              <a:srgbClr val="15803D"/>
            </a:solidFill>
          </a:ln>
        </p:spPr>
        <p:txBody>
          <a:bodyPr wrap="square" anchor="ctr" lIns="137160" rIns="137160">
            <a:spAutoFit/>
          </a:bodyPr>
          <a:lstStyle/>
          <a:p>
            <a:pPr algn="ctr"/>
            <a:r>
              <a:rPr sz="1400" b="1">
                <a:solidFill>
                  <a:srgbClr val="15803D"/>
                </a:solidFill>
              </a:rPr>
              <a:t>Use AI for judgment and drafting; use checks for facts, safety, and release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rPr b="1" sz="3000">
                <a:solidFill>
                  <a:srgbClr val="18181B"/>
                </a:solidFill>
                <a:latin typeface="Aptos Display"/>
              </a:rPr>
              <a:t>How to use and verify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778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05864"/>
                </a:solidFill>
              </a:defRPr>
            </a:pPr>
            <a:r>
              <a:rPr sz="1400" b="0">
                <a:solidFill>
                  <a:srgbClr val="505864"/>
                </a:solidFill>
                <a:latin typeface="Aptos"/>
              </a:rPr>
              <a:t>The repository is meant to be inspected through example data, workflow traces, and release gates.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E7680"/>
                </a:solidFill>
              </a:defRPr>
            </a:pPr>
            <a:r>
              <a:rPr sz="900" b="0">
                <a:solidFill>
                  <a:srgbClr val="6E7680"/>
                </a:solidFill>
                <a:latin typeface="Aptos"/>
              </a:rPr>
              <a:t>treeflow-ai / career-application-agent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074920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6534"/>
                </a:solidFill>
              </a:defRPr>
            </a:pPr>
            <a:r>
              <a:rPr b="1" sz="1800">
                <a:solidFill>
                  <a:srgbClr val="111827"/>
                </a:solidFill>
                <a:latin typeface="Aptos"/>
              </a:rPr>
              <a:t>Use path</a:t>
            </a:r>
          </a:p>
          <a:p>
            <a:pPr algn="l">
              <a:spcBef>
                <a:spcPts val="700"/>
              </a:spcBef>
              <a:defRPr sz="1400" b="0">
                <a:solidFill>
                  <a:srgbClr val="313944"/>
                </a:solidFill>
              </a:defRPr>
            </a:pPr>
            <a:r>
              <a:rPr sz="1400" b="0">
                <a:solidFill>
                  <a:srgbClr val="4B5563"/>
                </a:solidFill>
                <a:latin typeface="Aptos"/>
              </a:rPr>
              <a:t>• Copy example profile/evidence files into local ignored files.</a:t>
            </a:r>
          </a:p>
          <a:p>
            <a:pPr algn="l">
              <a:spcBef>
                <a:spcPts val="700"/>
              </a:spcBef>
              <a:defRPr sz="1400" b="0">
                <a:solidFill>
                  <a:srgbClr val="313944"/>
                </a:solidFill>
              </a:defRPr>
            </a:pPr>
            <a:r>
              <a:rPr sz="1400" b="0">
                <a:solidFill>
                  <a:srgbClr val="4B5563"/>
                </a:solidFill>
                <a:latin typeface="Aptos"/>
              </a:rPr>
              <a:t>• Start with a search goal or a specific role URL.</a:t>
            </a:r>
          </a:p>
          <a:p>
            <a:pPr algn="l">
              <a:spcBef>
                <a:spcPts val="700"/>
              </a:spcBef>
              <a:defRPr sz="1400" b="0">
                <a:solidFill>
                  <a:srgbClr val="313944"/>
                </a:solidFill>
              </a:defRPr>
            </a:pPr>
            <a:r>
              <a:rPr sz="1400" b="0">
                <a:solidFill>
                  <a:srgbClr val="4B5563"/>
                </a:solidFill>
                <a:latin typeface="Aptos"/>
              </a:rPr>
              <a:t>• Verify official opening status before drafting.</a:t>
            </a:r>
          </a:p>
          <a:p>
            <a:pPr algn="l">
              <a:spcBef>
                <a:spcPts val="700"/>
              </a:spcBef>
              <a:defRPr sz="1400" b="0">
                <a:solidFill>
                  <a:srgbClr val="313944"/>
                </a:solidFill>
              </a:defRPr>
            </a:pPr>
            <a:r>
              <a:rPr sz="1400" b="0">
                <a:solidFill>
                  <a:srgbClr val="4B5563"/>
                </a:solidFill>
                <a:latin typeface="Aptos"/>
              </a:rPr>
              <a:t>• Map JD requirements to DIRECT / TRANSFERABLE / UNKNOWN / UNMET.</a:t>
            </a:r>
          </a:p>
          <a:p>
            <a:pPr algn="l">
              <a:spcBef>
                <a:spcPts val="700"/>
              </a:spcBef>
              <a:defRPr sz="1400" b="0">
                <a:solidFill>
                  <a:srgbClr val="313944"/>
                </a:solidFill>
              </a:defRPr>
            </a:pPr>
            <a:r>
              <a:rPr sz="1400" b="0">
                <a:solidFill>
                  <a:srgbClr val="4B5563"/>
                </a:solidFill>
                <a:latin typeface="Aptos"/>
              </a:rPr>
              <a:t>• Generate reviewable materials, then validate before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325880"/>
            <a:ext cx="4983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wrap="square" bIns="91440"/>
          <a:lstStyle/>
          <a:p>
            <a:pPr algn="l">
              <a:defRPr sz="1800" b="1">
                <a:solidFill>
                  <a:srgbClr val="DC2626"/>
                </a:solidFill>
              </a:defRPr>
            </a:pPr>
            <a:r>
              <a:rPr b="1" sz="1800">
                <a:solidFill>
                  <a:srgbClr val="111827"/>
                </a:solidFill>
                <a:latin typeface="Aptos"/>
              </a:rPr>
              <a:t>Mechanical validation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313944"/>
                </a:solidFill>
              </a:defRPr>
            </a:pPr>
            <a:r>
              <a:rPr sz="1400" b="0">
                <a:solidFill>
                  <a:srgbClr val="4B5563"/>
                </a:solidFill>
                <a:latin typeface="Aptos"/>
              </a:rPr>
              <a:t>Schemas, required files, private-file guardrails, hyperlinks, and state-history merge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606040"/>
            <a:ext cx="4983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wrap="square" bIns="91440"/>
          <a:lstStyle/>
          <a:p>
            <a:pPr algn="l">
              <a:defRPr sz="1800" b="1">
                <a:solidFill>
                  <a:srgbClr val="EA580C"/>
                </a:solidFill>
              </a:defRPr>
            </a:pPr>
            <a:r>
              <a:rPr b="1" sz="1800">
                <a:solidFill>
                  <a:srgbClr val="111827"/>
                </a:solidFill>
                <a:latin typeface="Aptos"/>
              </a:rPr>
              <a:t>Grounding validation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313944"/>
                </a:solidFill>
              </a:defRPr>
            </a:pPr>
            <a:r>
              <a:rPr sz="1400" b="0">
                <a:solidFill>
                  <a:srgbClr val="4B5563"/>
                </a:solidFill>
                <a:latin typeface="Aptos"/>
              </a:rPr>
              <a:t>Evidence IDs must exist; unknown or unmet requirements cannot become candidate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3886200"/>
            <a:ext cx="4983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 wrap="square" bIns="91440"/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rPr b="1" sz="1800">
                <a:solidFill>
                  <a:srgbClr val="111827"/>
                </a:solidFill>
                <a:latin typeface="Aptos"/>
              </a:rPr>
              <a:t>Human/semantic review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313944"/>
                </a:solidFill>
              </a:defRPr>
            </a:pPr>
            <a:r>
              <a:rPr sz="1400" b="0">
                <a:solidFill>
                  <a:srgbClr val="4B5563"/>
                </a:solidFill>
                <a:latin typeface="Aptos"/>
              </a:rPr>
              <a:t>A reviewer checks relevance, scope, tone, and whether the output is ready to submit.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5230368"/>
            <a:ext cx="4983480" cy="420624"/>
          </a:xfrm>
          <a:prstGeom prst="rect">
            <a:avLst/>
          </a:prstGeom>
          <a:solidFill>
            <a:srgbClr val="F0F7F3"/>
          </a:solidFill>
          <a:ln w="19050">
            <a:solidFill>
              <a:srgbClr val="15803D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</a:rPr>
              <a:t>Release gate: python scripts/release_gate.py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2026-09-25T19:41:56Z</dcterms:created>
  <dc:creator>TreeFlow AI</dc:creator>
</cp:coreProperties>
</file>